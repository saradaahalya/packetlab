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7" d="100"/>
          <a:sy n="67" d="100"/>
        </p:scale>
        <p:origin x="54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758952"/>
            <a:ext cx="11384280" cy="5870448"/>
          </a:xfrm>
          <a:prstGeom prst="roundRect">
            <a:avLst/>
          </a:prstGeom>
          <a:solidFill>
            <a:srgbClr val="121213"/>
          </a:solidFill>
          <a:ln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2335" y="1088136"/>
            <a:ext cx="11384280" cy="5532120"/>
          </a:xfrm>
          <a:prstGeom prst="round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658368"/>
            <a:ext cx="11384280" cy="5870448"/>
          </a:xfrm>
          <a:prstGeom prst="round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0120" y="2084832"/>
            <a:ext cx="10323576" cy="192938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77824" y="1993392"/>
            <a:ext cx="10323576" cy="1929384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240280"/>
            <a:ext cx="9729216" cy="15087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900"/>
              </a:spcAft>
            </a:pPr>
            <a:r>
              <a:rPr sz="2000" b="1" dirty="0">
                <a:solidFill>
                  <a:srgbClr val="121213"/>
                </a:solidFill>
                <a:latin typeface="Century Gothic"/>
              </a:rPr>
              <a:t>DESIGN AND PERFORMANCE EVALUATION OF A CUSTOM</a:t>
            </a:r>
          </a:p>
          <a:p>
            <a:pPr>
              <a:spcAft>
                <a:spcPts val="900"/>
              </a:spcAft>
            </a:pPr>
            <a:r>
              <a:rPr sz="2000" b="1" dirty="0">
                <a:solidFill>
                  <a:srgbClr val="121213"/>
                </a:solidFill>
                <a:latin typeface="Century Gothic"/>
              </a:rPr>
              <a:t>APPLICATION-LAYER PROTOCOL FOR LOW-LATENCY</a:t>
            </a:r>
          </a:p>
          <a:p>
            <a:pPr>
              <a:spcAft>
                <a:spcPts val="0"/>
              </a:spcAft>
            </a:pPr>
            <a:r>
              <a:rPr sz="2000" b="1" dirty="0">
                <a:solidFill>
                  <a:srgbClr val="121213"/>
                </a:solidFill>
                <a:latin typeface="Century Gothic"/>
              </a:rPr>
              <a:t>IoT SENSOR DATA EXCHANGE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4984" y="4379976"/>
            <a:ext cx="10195560" cy="1389888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2688" y="4288536"/>
            <a:ext cx="10195560" cy="1389888"/>
          </a:xfrm>
          <a:prstGeom prst="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8720" y="4443984"/>
            <a:ext cx="9601200" cy="803297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 dirty="0">
                <a:solidFill>
                  <a:srgbClr val="121213"/>
                </a:solidFill>
                <a:latin typeface="Century Gothic"/>
              </a:rPr>
              <a:t>Sarada</a:t>
            </a:r>
            <a:r>
              <a:rPr lang="en-IN" sz="1700" b="1" dirty="0">
                <a:solidFill>
                  <a:srgbClr val="121213"/>
                </a:solidFill>
                <a:latin typeface="Century Gothic"/>
              </a:rPr>
              <a:t> Ahalya- 24BCB0130</a:t>
            </a:r>
          </a:p>
          <a:p>
            <a:pPr>
              <a:spcAft>
                <a:spcPts val="0"/>
              </a:spcAft>
            </a:pPr>
            <a:r>
              <a:rPr sz="1700" b="1" dirty="0">
                <a:solidFill>
                  <a:srgbClr val="121213"/>
                </a:solidFill>
                <a:latin typeface="Century Gothic"/>
              </a:rPr>
              <a:t>Siya </a:t>
            </a:r>
            <a:r>
              <a:rPr lang="en-IN" sz="1700" b="1" dirty="0">
                <a:solidFill>
                  <a:srgbClr val="121213"/>
                </a:solidFill>
                <a:latin typeface="Century Gothic"/>
              </a:rPr>
              <a:t>Agrawal- 24BCT0270</a:t>
            </a:r>
          </a:p>
          <a:p>
            <a:pPr>
              <a:spcAft>
                <a:spcPts val="0"/>
              </a:spcAft>
            </a:pPr>
            <a:r>
              <a:rPr sz="1700" b="1" dirty="0">
                <a:solidFill>
                  <a:srgbClr val="121213"/>
                </a:solidFill>
                <a:latin typeface="Century Gothic"/>
              </a:rPr>
              <a:t>Nimesha</a:t>
            </a:r>
            <a:r>
              <a:rPr lang="en-IN" sz="1700" b="1" dirty="0">
                <a:solidFill>
                  <a:srgbClr val="121213"/>
                </a:solidFill>
                <a:latin typeface="Century Gothic"/>
              </a:rPr>
              <a:t> Subramanian- 24BDS0382</a:t>
            </a:r>
            <a:endParaRPr sz="1700" b="1" dirty="0">
              <a:solidFill>
                <a:srgbClr val="121213"/>
              </a:solidFill>
              <a:latin typeface="Century Gothi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07008" y="5314855"/>
            <a:ext cx="9418320" cy="3200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0" dirty="0">
                <a:solidFill>
                  <a:srgbClr val="121213"/>
                </a:solidFill>
                <a:latin typeface="Century Gothic"/>
              </a:rPr>
              <a:t>BCSE308P  |  Computer Networks Lab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57200"/>
            <a:ext cx="11384280" cy="6172200"/>
          </a:xfrm>
          <a:prstGeom prst="roundRect">
            <a:avLst/>
          </a:prstGeom>
          <a:solidFill>
            <a:srgbClr val="121213"/>
          </a:solidFill>
          <a:ln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2335" y="448056"/>
            <a:ext cx="11384280" cy="6172200"/>
          </a:xfrm>
          <a:prstGeom prst="round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356616"/>
            <a:ext cx="11384280" cy="6172200"/>
          </a:xfrm>
          <a:prstGeom prst="round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8" y="804672"/>
            <a:ext cx="10744200" cy="71323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713232"/>
            <a:ext cx="10744200" cy="713232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832104"/>
            <a:ext cx="10104120" cy="4389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21213"/>
                </a:solidFill>
                <a:latin typeface="Century Gothic"/>
              </a:rPr>
              <a:t>Problem and Motivation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" y="1673352"/>
            <a:ext cx="10387584" cy="3200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96696" y="2148840"/>
            <a:ext cx="4974336" cy="3337560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2057400"/>
            <a:ext cx="4974336" cy="3337560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54496" y="2148840"/>
            <a:ext cx="4974336" cy="3337560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2057400"/>
            <a:ext cx="4974336" cy="3337560"/>
          </a:xfrm>
          <a:prstGeom prst="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2377440"/>
            <a:ext cx="4389120" cy="4114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21213"/>
                </a:solidFill>
                <a:latin typeface="Century Gothic"/>
              </a:rPr>
              <a:t>THE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035808"/>
            <a:ext cx="4389120" cy="20299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21213"/>
                </a:solidFill>
                <a:latin typeface="Century Gothic"/>
              </a:rPr>
              <a:t>IoT sensors regularly transmit small readings.</a:t>
            </a:r>
          </a:p>
          <a:p>
            <a:pPr>
              <a:spcAft>
                <a:spcPts val="900"/>
              </a:spcAft>
            </a:pPr>
            <a:endParaRPr sz="1500" b="0">
              <a:solidFill>
                <a:srgbClr val="121213"/>
              </a:solidFill>
              <a:latin typeface="Century Gothic"/>
            </a:endParaRP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121213"/>
                </a:solidFill>
                <a:latin typeface="Century Gothic"/>
              </a:rPr>
              <a:t>Verbose message formats add application-layer bytes; unreliable delivery can lose updates.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77440"/>
            <a:ext cx="4361688" cy="4114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21213"/>
                </a:solidFill>
                <a:latin typeface="Century Gothic"/>
              </a:rPr>
              <a:t>OUR 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3035808"/>
            <a:ext cx="4343400" cy="21031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21213"/>
                </a:solidFill>
                <a:latin typeface="Century Gothic"/>
              </a:rPr>
              <a:t>Create a compact binary protocol for simulated sensors and evaluate message size, delivery and ACK-confirmation time.</a:t>
            </a:r>
          </a:p>
          <a:p>
            <a:pPr>
              <a:spcAft>
                <a:spcPts val="900"/>
              </a:spcAft>
            </a:pPr>
            <a:endParaRPr sz="1500" b="0">
              <a:solidFill>
                <a:srgbClr val="121213"/>
              </a:solidFill>
              <a:latin typeface="Century Gothic"/>
            </a:endParaRP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121213"/>
                </a:solidFill>
                <a:latin typeface="Century Gothic"/>
              </a:rPr>
              <a:t>Use TCP + JSON as a reference implementation.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57200"/>
            <a:ext cx="11384280" cy="6172200"/>
          </a:xfrm>
          <a:prstGeom prst="roundRect">
            <a:avLst/>
          </a:prstGeom>
          <a:solidFill>
            <a:srgbClr val="121213"/>
          </a:solidFill>
          <a:ln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2335" y="448056"/>
            <a:ext cx="11384280" cy="6172200"/>
          </a:xfrm>
          <a:prstGeom prst="round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356616"/>
            <a:ext cx="11384280" cy="6172200"/>
          </a:xfrm>
          <a:prstGeom prst="round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8" y="804672"/>
            <a:ext cx="10744200" cy="71323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713232"/>
            <a:ext cx="10744200" cy="713232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832104"/>
            <a:ext cx="10104120" cy="4389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21213"/>
                </a:solidFill>
                <a:latin typeface="Century Gothic"/>
              </a:rPr>
              <a:t>Two Application-Layer Approaches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" y="1673352"/>
            <a:ext cx="10387584" cy="3200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96696" y="2084832"/>
            <a:ext cx="5029200" cy="3785615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1993392"/>
            <a:ext cx="5029200" cy="3785615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81928" y="2084832"/>
            <a:ext cx="4983480" cy="3785615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9632" y="1993392"/>
            <a:ext cx="4983480" cy="3785615"/>
          </a:xfrm>
          <a:prstGeom prst="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97864" y="2331720"/>
            <a:ext cx="4480560" cy="39319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21213"/>
                </a:solidFill>
                <a:latin typeface="Century Gothic"/>
              </a:rPr>
              <a:t>LLSP over UDP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71800"/>
            <a:ext cx="4480560" cy="24231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Compact binary DATA messages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CRC validation and sensor IDs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Optional ACK-based reliable mode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Bounded timeout/retransmissions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Sender-side simulated DATA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331720"/>
            <a:ext cx="4480560" cy="39319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21213"/>
                </a:solidFill>
                <a:latin typeface="Century Gothic"/>
              </a:rPr>
              <a:t>TCP + JSON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71800"/>
            <a:ext cx="4480560" cy="24231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Compact newline-delimited JSON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Persistent TCP connection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Reading validation on server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Application-level JSON ACKs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RTT and byte measurements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57200"/>
            <a:ext cx="11384280" cy="6172200"/>
          </a:xfrm>
          <a:prstGeom prst="roundRect">
            <a:avLst/>
          </a:prstGeom>
          <a:solidFill>
            <a:srgbClr val="121213"/>
          </a:solidFill>
          <a:ln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2335" y="448056"/>
            <a:ext cx="11384280" cy="6172200"/>
          </a:xfrm>
          <a:prstGeom prst="round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356616"/>
            <a:ext cx="11384280" cy="6172200"/>
          </a:xfrm>
          <a:prstGeom prst="round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8" y="804672"/>
            <a:ext cx="10744200" cy="71323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713232"/>
            <a:ext cx="10744200" cy="713232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832104"/>
            <a:ext cx="10104120" cy="4389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21213"/>
                </a:solidFill>
                <a:latin typeface="Century Gothic"/>
              </a:rPr>
              <a:t>LLSP: Custom Protocol 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" y="1673352"/>
            <a:ext cx="10387584" cy="3200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96696" y="2112264"/>
            <a:ext cx="6501384" cy="363931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2020824"/>
            <a:ext cx="6501384" cy="3639312"/>
          </a:xfrm>
          <a:prstGeom prst="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63256" y="2112264"/>
            <a:ext cx="3493008" cy="363931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80960" y="2020824"/>
            <a:ext cx="3493008" cy="3639312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97864" y="2386584"/>
            <a:ext cx="5760720" cy="41148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800" b="1">
                <a:solidFill>
                  <a:srgbClr val="121213"/>
                </a:solidFill>
                <a:latin typeface="Century Gothic"/>
              </a:rPr>
              <a:t>17-BYTE DATA PACKET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43584" y="2971800"/>
            <a:ext cx="5724144" cy="218541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21213"/>
                </a:solidFill>
                <a:latin typeface="Century Gothic"/>
              </a:rPr>
              <a:t>Version + type (1 B)  |  Flags (1 B)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21213"/>
                </a:solidFill>
                <a:latin typeface="Century Gothic"/>
              </a:rPr>
              <a:t>Sensor ID (2 B)  |  Sequence (2 B)</a:t>
            </a:r>
          </a:p>
          <a:p>
            <a:pPr>
              <a:spcAft>
                <a:spcPts val="900"/>
              </a:spcAft>
            </a:pPr>
            <a:r>
              <a:rPr sz="1500" b="0">
                <a:solidFill>
                  <a:srgbClr val="121213"/>
                </a:solidFill>
                <a:latin typeface="Century Gothic"/>
              </a:rPr>
              <a:t>Payload: type (1 B) + value (4 B) + time (4 B)</a:t>
            </a: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121213"/>
                </a:solidFill>
                <a:latin typeface="Century Gothic"/>
              </a:rPr>
              <a:t>CRC (2 B)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46136" y="2359152"/>
            <a:ext cx="2980944" cy="50292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21213"/>
                </a:solidFill>
                <a:latin typeface="Century Gothic"/>
              </a:rPr>
              <a:t>RELIABILITY 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46136" y="3063240"/>
            <a:ext cx="2871216" cy="204825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Unreliable: one DATA attempt.</a:t>
            </a:r>
          </a:p>
          <a:p>
            <a:pPr>
              <a:spcAft>
                <a:spcPts val="900"/>
              </a:spcAft>
            </a:pPr>
            <a:endParaRPr sz="1400" b="0">
              <a:solidFill>
                <a:srgbClr val="121213"/>
              </a:solidFill>
              <a:latin typeface="Century Gothic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Reliable: request ACK; timeout and retry, at most 3 total attempts.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57200"/>
            <a:ext cx="11384280" cy="6172200"/>
          </a:xfrm>
          <a:prstGeom prst="roundRect">
            <a:avLst/>
          </a:prstGeom>
          <a:solidFill>
            <a:srgbClr val="121213"/>
          </a:solidFill>
          <a:ln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2335" y="448056"/>
            <a:ext cx="11384280" cy="6172200"/>
          </a:xfrm>
          <a:prstGeom prst="round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356616"/>
            <a:ext cx="11384280" cy="6172200"/>
          </a:xfrm>
          <a:prstGeom prst="round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8" y="804672"/>
            <a:ext cx="10744200" cy="71323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713232"/>
            <a:ext cx="10744200" cy="713232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832104"/>
            <a:ext cx="10104120" cy="4389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21213"/>
                </a:solidFill>
                <a:latin typeface="Century Gothic"/>
              </a:rPr>
              <a:t>System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" y="1673352"/>
            <a:ext cx="10387584" cy="3200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96696" y="2514600"/>
            <a:ext cx="1828800" cy="1252728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2423160"/>
            <a:ext cx="1828800" cy="1252728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734056"/>
            <a:ext cx="1618488" cy="8321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ctr">
              <a:spcAft>
                <a:spcPts val="900"/>
              </a:spcAft>
            </a:pPr>
            <a:r>
              <a:rPr sz="1300" b="1">
                <a:solidFill>
                  <a:srgbClr val="121213"/>
                </a:solidFill>
                <a:latin typeface="Century Gothic"/>
              </a:rPr>
              <a:t>Sensor simulator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213"/>
                </a:solidFill>
                <a:latin typeface="Century Gothic"/>
              </a:rPr>
              <a:t>5 threads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77056" y="2514600"/>
            <a:ext cx="1828800" cy="1252728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794760" y="2423160"/>
            <a:ext cx="1828800" cy="1252728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04488" y="2734056"/>
            <a:ext cx="1618488" cy="8321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ctr">
              <a:spcAft>
                <a:spcPts val="900"/>
              </a:spcAft>
            </a:pPr>
            <a:r>
              <a:rPr sz="1300" b="1">
                <a:solidFill>
                  <a:srgbClr val="121213"/>
                </a:solidFill>
                <a:latin typeface="Century Gothic"/>
              </a:rPr>
              <a:t>LLSP encoder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213"/>
                </a:solidFill>
                <a:latin typeface="Century Gothic"/>
              </a:rPr>
              <a:t>17-byte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57416" y="2514600"/>
            <a:ext cx="1828800" cy="1252728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675120" y="2423160"/>
            <a:ext cx="1828800" cy="1252728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84848" y="2734056"/>
            <a:ext cx="1618488" cy="8321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ctr">
              <a:spcAft>
                <a:spcPts val="900"/>
              </a:spcAft>
            </a:pPr>
            <a:r>
              <a:rPr sz="1300" b="1">
                <a:solidFill>
                  <a:srgbClr val="121213"/>
                </a:solidFill>
                <a:latin typeface="Century Gothic"/>
              </a:rPr>
              <a:t>UDP server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213"/>
                </a:solidFill>
                <a:latin typeface="Century Gothic"/>
              </a:rPr>
              <a:t>CRC + deduplication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37776" y="2514600"/>
            <a:ext cx="1828800" cy="1252728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55480" y="2423160"/>
            <a:ext cx="1828800" cy="1252728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65207" y="2734056"/>
            <a:ext cx="1618488" cy="8321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ctr">
              <a:spcAft>
                <a:spcPts val="900"/>
              </a:spcAft>
            </a:pPr>
            <a:r>
              <a:rPr sz="1300" b="1">
                <a:solidFill>
                  <a:srgbClr val="121213"/>
                </a:solidFill>
                <a:latin typeface="Century Gothic"/>
              </a:rPr>
              <a:t>ACK / retry</a:t>
            </a:r>
          </a:p>
          <a:p>
            <a:pPr algn="ctr">
              <a:spcAft>
                <a:spcPts val="0"/>
              </a:spcAft>
            </a:pPr>
            <a:r>
              <a:rPr sz="1300" b="1">
                <a:solidFill>
                  <a:srgbClr val="121213"/>
                </a:solidFill>
                <a:latin typeface="Century Gothic"/>
              </a:rPr>
              <a:t>Reliable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62072" y="2843784"/>
            <a:ext cx="685800" cy="5486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21213"/>
                </a:solidFill>
                <a:latin typeface="Century Gothic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51576" y="2843784"/>
            <a:ext cx="685800" cy="5486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21213"/>
                </a:solidFill>
                <a:latin typeface="Century Gothic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1936" y="2843784"/>
            <a:ext cx="685800" cy="54864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400" b="1">
                <a:solidFill>
                  <a:srgbClr val="121213"/>
                </a:solidFill>
                <a:latin typeface="Century Gothic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25296" y="4251959"/>
            <a:ext cx="9875520" cy="139903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43000" y="4160520"/>
            <a:ext cx="9875520" cy="1399032"/>
          </a:xfrm>
          <a:prstGeom prst="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399032" y="4535424"/>
            <a:ext cx="9372600" cy="6858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21213"/>
                </a:solidFill>
                <a:latin typeface="Century Gothic"/>
              </a:rPr>
              <a:t>Independent baseline path: JSON reading generator  →  TCP client  →  TCP server  →  JSON 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897880"/>
            <a:ext cx="9875520" cy="32918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100" b="0">
                <a:solidFill>
                  <a:srgbClr val="121213"/>
                </a:solidFill>
                <a:latin typeface="Century Gothic"/>
              </a:rPr>
              <a:t>The five-sensor live simulator and the controlled benchmark are separate senders.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57200"/>
            <a:ext cx="11384280" cy="6172200"/>
          </a:xfrm>
          <a:prstGeom prst="roundRect">
            <a:avLst/>
          </a:prstGeom>
          <a:solidFill>
            <a:srgbClr val="121213"/>
          </a:solidFill>
          <a:ln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2335" y="448056"/>
            <a:ext cx="11384280" cy="6172200"/>
          </a:xfrm>
          <a:prstGeom prst="round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356616"/>
            <a:ext cx="11384280" cy="6172200"/>
          </a:xfrm>
          <a:prstGeom prst="round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8" y="804672"/>
            <a:ext cx="10744200" cy="71323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713232"/>
            <a:ext cx="10744200" cy="713232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832104"/>
            <a:ext cx="10104120" cy="4389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21213"/>
                </a:solidFill>
                <a:latin typeface="Century Gothic"/>
              </a:rPr>
              <a:t>Live Demo: UDP Server Receives Readings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" y="1673352"/>
            <a:ext cx="10387584" cy="3200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2011680"/>
            <a:ext cx="10552176" cy="3648456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13816" y="1920240"/>
            <a:ext cx="10552176" cy="3648456"/>
          </a:xfrm>
          <a:prstGeom prst="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10-28 0254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969" y="2002536"/>
            <a:ext cx="6751868" cy="3483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14984" y="5760720"/>
            <a:ext cx="10296144" cy="630936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2688" y="5669280"/>
            <a:ext cx="10296144" cy="630936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52144" y="5797296"/>
            <a:ext cx="9912096" cy="4297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121213"/>
                </a:solidFill>
                <a:latin typeface="Century Gothic"/>
              </a:rPr>
              <a:t>Verified:  sensor IDs 1–5, values, sequence numbers and requested ACKs on 127.0.0.1:9999.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57200"/>
            <a:ext cx="11384280" cy="6172200"/>
          </a:xfrm>
          <a:prstGeom prst="roundRect">
            <a:avLst/>
          </a:prstGeom>
          <a:solidFill>
            <a:srgbClr val="121213"/>
          </a:solidFill>
          <a:ln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2335" y="448056"/>
            <a:ext cx="11384280" cy="6172200"/>
          </a:xfrm>
          <a:prstGeom prst="round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356616"/>
            <a:ext cx="11384280" cy="6172200"/>
          </a:xfrm>
          <a:prstGeom prst="round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8" y="804672"/>
            <a:ext cx="10744200" cy="71323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713232"/>
            <a:ext cx="10744200" cy="713232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832104"/>
            <a:ext cx="10104120" cy="4389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21213"/>
                </a:solidFill>
                <a:latin typeface="Century Gothic"/>
              </a:rPr>
              <a:t>Live Demo: Five Concurrent Sensors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" y="1673352"/>
            <a:ext cx="10387584" cy="3200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2011680"/>
            <a:ext cx="10552176" cy="3648456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13816" y="1920240"/>
            <a:ext cx="10552176" cy="3648456"/>
          </a:xfrm>
          <a:prstGeom prst="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10-28 0255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244" y="2002536"/>
            <a:ext cx="3763318" cy="3483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14984" y="5760720"/>
            <a:ext cx="10296144" cy="630936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2688" y="5669280"/>
            <a:ext cx="10296144" cy="630936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52144" y="5797296"/>
            <a:ext cx="9912096" cy="4297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121213"/>
                </a:solidFill>
                <a:latin typeface="Century Gothic"/>
              </a:rPr>
              <a:t>Verified:  five running sensor threads; temperature, humidity and motion readings with ACK confirmations.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57200"/>
            <a:ext cx="11384280" cy="6172200"/>
          </a:xfrm>
          <a:prstGeom prst="roundRect">
            <a:avLst/>
          </a:prstGeom>
          <a:solidFill>
            <a:srgbClr val="121213"/>
          </a:solidFill>
          <a:ln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2335" y="448056"/>
            <a:ext cx="11384280" cy="6172200"/>
          </a:xfrm>
          <a:prstGeom prst="round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356616"/>
            <a:ext cx="11384280" cy="6172200"/>
          </a:xfrm>
          <a:prstGeom prst="round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8" y="804672"/>
            <a:ext cx="10744200" cy="71323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713232"/>
            <a:ext cx="10744200" cy="713232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832104"/>
            <a:ext cx="10104120" cy="4389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21213"/>
                </a:solidFill>
                <a:latin typeface="Century Gothic"/>
              </a:rPr>
              <a:t>Live Demo: Simulated Loss and Retries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" y="1673352"/>
            <a:ext cx="10387584" cy="3200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2011680"/>
            <a:ext cx="10552176" cy="3648456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13816" y="1920240"/>
            <a:ext cx="10552176" cy="3648456"/>
          </a:xfrm>
          <a:prstGeom prst="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10-28 0305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263" y="2002536"/>
            <a:ext cx="3099281" cy="348386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14984" y="5760720"/>
            <a:ext cx="10296144" cy="630936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2688" y="5669280"/>
            <a:ext cx="10296144" cy="630936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52144" y="5797296"/>
            <a:ext cx="9912096" cy="4297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121213"/>
                </a:solidFill>
                <a:latin typeface="Century Gothic"/>
              </a:rPr>
              <a:t>Verified:  DATA omission → ACK timeout → successful later ACK; three attempts maximum.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57200"/>
            <a:ext cx="11384280" cy="6172200"/>
          </a:xfrm>
          <a:prstGeom prst="roundRect">
            <a:avLst/>
          </a:prstGeom>
          <a:solidFill>
            <a:srgbClr val="121213"/>
          </a:solidFill>
          <a:ln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2335" y="448056"/>
            <a:ext cx="11384280" cy="6172200"/>
          </a:xfrm>
          <a:prstGeom prst="round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356616"/>
            <a:ext cx="11384280" cy="6172200"/>
          </a:xfrm>
          <a:prstGeom prst="round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8" y="804672"/>
            <a:ext cx="10744200" cy="71323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713232"/>
            <a:ext cx="10744200" cy="713232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832104"/>
            <a:ext cx="10104120" cy="4389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21213"/>
                </a:solidFill>
                <a:latin typeface="Century Gothic"/>
              </a:rPr>
              <a:t>Live Demo: TCP + JSON 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" y="1673352"/>
            <a:ext cx="10387584" cy="3200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6112" y="2011680"/>
            <a:ext cx="10552176" cy="3648456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13816" y="1920240"/>
            <a:ext cx="10552176" cy="3648456"/>
          </a:xfrm>
          <a:prstGeom prst="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10-28 0309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1" y="2418675"/>
            <a:ext cx="10387584" cy="265158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14984" y="5760720"/>
            <a:ext cx="10296144" cy="630936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32688" y="5669280"/>
            <a:ext cx="10296144" cy="630936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52144" y="5797296"/>
            <a:ext cx="9912096" cy="42976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121213"/>
                </a:solidFill>
                <a:latin typeface="Century Gothic"/>
              </a:rPr>
              <a:t>Verified:  10 of 10 application ACKs; measured request bytes, mean RTT and throughput.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57200"/>
            <a:ext cx="11384280" cy="6172200"/>
          </a:xfrm>
          <a:prstGeom prst="roundRect">
            <a:avLst/>
          </a:prstGeom>
          <a:solidFill>
            <a:srgbClr val="121213"/>
          </a:solidFill>
          <a:ln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2335" y="448056"/>
            <a:ext cx="11384280" cy="6172200"/>
          </a:xfrm>
          <a:prstGeom prst="round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356616"/>
            <a:ext cx="11384280" cy="6172200"/>
          </a:xfrm>
          <a:prstGeom prst="round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8" y="804672"/>
            <a:ext cx="10744200" cy="71323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713232"/>
            <a:ext cx="10744200" cy="713232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832104"/>
            <a:ext cx="10104120" cy="4389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21213"/>
                </a:solidFill>
                <a:latin typeface="Century Gothic"/>
              </a:rPr>
              <a:t>Experimental Setup and Metrics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" y="1673352"/>
            <a:ext cx="10387584" cy="3200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96696" y="2103120"/>
            <a:ext cx="5047488" cy="3886200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2011680"/>
            <a:ext cx="5047488" cy="3886200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0216" y="2103120"/>
            <a:ext cx="4965192" cy="3886200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4965192" cy="3886200"/>
          </a:xfrm>
          <a:prstGeom prst="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2340864"/>
            <a:ext cx="4389120" cy="42062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21213"/>
                </a:solidFill>
                <a:latin typeface="Century Gothic"/>
              </a:rPr>
              <a:t>TEST SCENARIOS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2953512"/>
            <a:ext cx="4407408" cy="243230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LLSP modes: reliable / unreliable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Simulated DATA omission: 0, 5, 10, 20%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Historical plots: five trials per setting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500 logical readings in each trial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Localhost-based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340864"/>
            <a:ext cx="4389120" cy="42062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21213"/>
                </a:solidFill>
                <a:latin typeface="Century Gothic"/>
              </a:rPr>
              <a:t>RECORDED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953512"/>
            <a:ext cx="4379976" cy="259689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Unique delivery ratio (%)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ACK-confirmed ratio (reliable)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Retry-inclusive confirmation time (ms)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Extra transmission attempts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Application message bytes</a:t>
            </a: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TCP application RTT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57200"/>
            <a:ext cx="11384280" cy="6172200"/>
          </a:xfrm>
          <a:prstGeom prst="roundRect">
            <a:avLst/>
          </a:prstGeom>
          <a:solidFill>
            <a:srgbClr val="121213"/>
          </a:solidFill>
          <a:ln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2335" y="448056"/>
            <a:ext cx="11384280" cy="6172200"/>
          </a:xfrm>
          <a:prstGeom prst="round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356616"/>
            <a:ext cx="11384280" cy="6172200"/>
          </a:xfrm>
          <a:prstGeom prst="round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8" y="804672"/>
            <a:ext cx="10744200" cy="71323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713232"/>
            <a:ext cx="10744200" cy="713232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832104"/>
            <a:ext cx="10104120" cy="4389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21213"/>
                </a:solidFill>
                <a:latin typeface="Century Gothic"/>
              </a:rPr>
              <a:t>Result 1: Delivery Rate vs. Loss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" y="1673352"/>
            <a:ext cx="10387584" cy="3200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5256" y="2039112"/>
            <a:ext cx="6912864" cy="4133087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947672"/>
            <a:ext cx="6912864" cy="4133087"/>
          </a:xfrm>
          <a:prstGeom prst="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10-28 031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460" y="2029967"/>
            <a:ext cx="5299862" cy="396849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065008" y="2039112"/>
            <a:ext cx="3236976" cy="4133087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82712" y="1947672"/>
            <a:ext cx="3236976" cy="4133087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02168" y="2148840"/>
            <a:ext cx="2825496" cy="5943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21213"/>
                </a:solidFill>
                <a:latin typeface="Century Gothic"/>
              </a:rPr>
              <a:t>RELIABILITY UNDER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889504"/>
            <a:ext cx="2798064" cy="3035807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At 20% simulated DATA omission:</a:t>
            </a:r>
          </a:p>
          <a:p>
            <a:pPr>
              <a:spcAft>
                <a:spcPts val="900"/>
              </a:spcAft>
            </a:pPr>
            <a:endParaRPr sz="1300" b="0">
              <a:solidFill>
                <a:srgbClr val="121213"/>
              </a:solidFill>
              <a:latin typeface="Century Gothic"/>
            </a:endParaRP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Reliable: 99.12% delivered.</a:t>
            </a:r>
          </a:p>
          <a:p>
            <a:pPr>
              <a:spcAft>
                <a:spcPts val="900"/>
              </a:spcAft>
            </a:pPr>
            <a:endParaRPr sz="1300" b="0">
              <a:solidFill>
                <a:srgbClr val="121213"/>
              </a:solidFill>
              <a:latin typeface="Century Gothic"/>
            </a:endParaRP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Unreliable: 79.72% delivered.</a:t>
            </a:r>
          </a:p>
          <a:p>
            <a:pPr>
              <a:spcAft>
                <a:spcPts val="900"/>
              </a:spcAft>
            </a:pPr>
            <a:endParaRPr sz="1300" b="0">
              <a:solidFill>
                <a:srgbClr val="121213"/>
              </a:solidFill>
              <a:latin typeface="Century Gothic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Retries improve successful delivery, but are bounded.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6190488"/>
            <a:ext cx="10305288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494E53"/>
                </a:solidFill>
                <a:latin typeface="Century Gothic"/>
              </a:rPr>
              <a:t>Historical benchmark: 5 trials × 500 readings per LLSP scenario; error bars = sample SD.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57200"/>
            <a:ext cx="11384280" cy="6172200"/>
          </a:xfrm>
          <a:prstGeom prst="roundRect">
            <a:avLst/>
          </a:prstGeom>
          <a:solidFill>
            <a:srgbClr val="121213"/>
          </a:solidFill>
          <a:ln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2335" y="448056"/>
            <a:ext cx="11384280" cy="6172200"/>
          </a:xfrm>
          <a:prstGeom prst="round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356616"/>
            <a:ext cx="11384280" cy="6172200"/>
          </a:xfrm>
          <a:prstGeom prst="round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8" y="804672"/>
            <a:ext cx="10744200" cy="71323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713232"/>
            <a:ext cx="10744200" cy="713232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832104"/>
            <a:ext cx="10104120" cy="4389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21213"/>
                </a:solidFill>
                <a:latin typeface="Century Gothic"/>
              </a:rPr>
              <a:t>Result 2: Confirmation Time vs. Loss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" y="1673352"/>
            <a:ext cx="10387584" cy="3200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5256" y="2039112"/>
            <a:ext cx="6912864" cy="4133087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947672"/>
            <a:ext cx="6912864" cy="4133087"/>
          </a:xfrm>
          <a:prstGeom prst="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10-28 0312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663" y="2029967"/>
            <a:ext cx="5333456" cy="396849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065008" y="2039112"/>
            <a:ext cx="3236976" cy="4133087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82712" y="1947672"/>
            <a:ext cx="3236976" cy="4133087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02168" y="2148840"/>
            <a:ext cx="2825496" cy="5943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21213"/>
                </a:solidFill>
                <a:latin typeface="Century Gothic"/>
              </a:rPr>
              <a:t>COST OF RETRIES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889504"/>
            <a:ext cx="2798064" cy="3035807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Reliable LLSP average confirmation time rises from 0.084 ms at 0% loss to 13.910 ms at 20% loss.</a:t>
            </a:r>
          </a:p>
          <a:p>
            <a:pPr>
              <a:spcAft>
                <a:spcPts val="900"/>
              </a:spcAft>
            </a:pPr>
            <a:endParaRPr sz="1300" b="0">
              <a:solidFill>
                <a:srgbClr val="121213"/>
              </a:solidFill>
              <a:latin typeface="Century Gothic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The TCP dashed line is an unimpaired 0%-loss reference, not an equal-loss comparison.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6190488"/>
            <a:ext cx="10305288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494E53"/>
                </a:solidFill>
                <a:latin typeface="Century Gothic"/>
              </a:rPr>
              <a:t>Historical benchmark: 5 trials × 500 readings per LLSP scenario; error bars = sample SD.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57200"/>
            <a:ext cx="11384280" cy="6172200"/>
          </a:xfrm>
          <a:prstGeom prst="roundRect">
            <a:avLst/>
          </a:prstGeom>
          <a:solidFill>
            <a:srgbClr val="121213"/>
          </a:solidFill>
          <a:ln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2335" y="448056"/>
            <a:ext cx="11384280" cy="6172200"/>
          </a:xfrm>
          <a:prstGeom prst="round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356616"/>
            <a:ext cx="11384280" cy="6172200"/>
          </a:xfrm>
          <a:prstGeom prst="round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8" y="804672"/>
            <a:ext cx="10744200" cy="71323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713232"/>
            <a:ext cx="10744200" cy="713232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832104"/>
            <a:ext cx="10104120" cy="4389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21213"/>
                </a:solidFill>
                <a:latin typeface="Century Gothic"/>
              </a:rPr>
              <a:t>Result 3: Retransmissions vs. Loss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" y="1673352"/>
            <a:ext cx="10387584" cy="3200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5256" y="2039112"/>
            <a:ext cx="6912864" cy="4133087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947672"/>
            <a:ext cx="6912864" cy="4133087"/>
          </a:xfrm>
          <a:prstGeom prst="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10-28 0312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468" y="2029967"/>
            <a:ext cx="5183847" cy="396849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065008" y="2039112"/>
            <a:ext cx="3236976" cy="4133087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82712" y="1947672"/>
            <a:ext cx="3236976" cy="4133087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02168" y="2148840"/>
            <a:ext cx="2825496" cy="5943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21213"/>
                </a:solidFill>
                <a:latin typeface="Century Gothic"/>
              </a:rPr>
              <a:t>RETRY FREQUENCY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889504"/>
            <a:ext cx="2798064" cy="3035807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Additional attempts per 500-reading run increase with simulated loss:</a:t>
            </a:r>
          </a:p>
          <a:p>
            <a:pPr>
              <a:spcAft>
                <a:spcPts val="900"/>
              </a:spcAft>
            </a:pPr>
            <a:endParaRPr sz="1300" b="0">
              <a:solidFill>
                <a:srgbClr val="121213"/>
              </a:solidFill>
              <a:latin typeface="Century Gothic"/>
            </a:endParaRP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5%: 24.4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10%: 58.0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20%: 120.8</a:t>
            </a:r>
          </a:p>
          <a:p>
            <a:pPr>
              <a:spcAft>
                <a:spcPts val="900"/>
              </a:spcAft>
            </a:pPr>
            <a:endParaRPr sz="1300" b="0">
              <a:solidFill>
                <a:srgbClr val="121213"/>
              </a:solidFill>
              <a:latin typeface="Century Gothic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More retries help delivery but increase completion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6190488"/>
            <a:ext cx="10305288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494E53"/>
                </a:solidFill>
                <a:latin typeface="Century Gothic"/>
              </a:rPr>
              <a:t>Historical benchmark: 5 trials × 500 readings per LLSP scenario; error bars = sample SD.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57200"/>
            <a:ext cx="11384280" cy="6172200"/>
          </a:xfrm>
          <a:prstGeom prst="roundRect">
            <a:avLst/>
          </a:prstGeom>
          <a:solidFill>
            <a:srgbClr val="121213"/>
          </a:solidFill>
          <a:ln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2335" y="448056"/>
            <a:ext cx="11384280" cy="6172200"/>
          </a:xfrm>
          <a:prstGeom prst="round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356616"/>
            <a:ext cx="11384280" cy="6172200"/>
          </a:xfrm>
          <a:prstGeom prst="round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8" y="804672"/>
            <a:ext cx="10744200" cy="71323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713232"/>
            <a:ext cx="10744200" cy="713232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832104"/>
            <a:ext cx="10104120" cy="4389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21213"/>
                </a:solidFill>
                <a:latin typeface="Century Gothic"/>
              </a:rPr>
              <a:t>Result 4: Message Size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" y="1673352"/>
            <a:ext cx="10387584" cy="3200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5256" y="2039112"/>
            <a:ext cx="6912864" cy="4133087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1947672"/>
            <a:ext cx="6912864" cy="4133087"/>
          </a:xfrm>
          <a:prstGeom prst="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10-28 0312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995" y="2029967"/>
            <a:ext cx="5470793" cy="3968496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065008" y="2039112"/>
            <a:ext cx="3236976" cy="4133087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82712" y="1947672"/>
            <a:ext cx="3236976" cy="4133087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02168" y="2148840"/>
            <a:ext cx="2825496" cy="59436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121213"/>
                </a:solidFill>
                <a:latin typeface="Century Gothic"/>
              </a:rPr>
              <a:t>COMPACT 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889504"/>
            <a:ext cx="2798064" cy="3035807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LLSP DATA: 17 bytes.</a:t>
            </a:r>
          </a:p>
          <a:p>
            <a:pPr>
              <a:spcAft>
                <a:spcPts val="900"/>
              </a:spcAft>
            </a:pPr>
            <a:endParaRPr sz="1300" b="0">
              <a:solidFill>
                <a:srgbClr val="121213"/>
              </a:solidFill>
              <a:latin typeface="Century Gothic"/>
            </a:endParaRP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TCP + JSON request: 80.418 bytes on average, including newline framing.</a:t>
            </a:r>
          </a:p>
          <a:p>
            <a:pPr>
              <a:spcAft>
                <a:spcPts val="900"/>
              </a:spcAft>
            </a:pPr>
            <a:endParaRPr sz="1300" b="0">
              <a:solidFill>
                <a:srgbClr val="121213"/>
              </a:solidFill>
              <a:latin typeface="Century Gothic"/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About 79% fewer application bytes per DATA request; network headers and ACK traffic are excluded.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6190488"/>
            <a:ext cx="10305288" cy="2286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>
                <a:solidFill>
                  <a:srgbClr val="494E53"/>
                </a:solidFill>
                <a:latin typeface="Century Gothic"/>
              </a:rPr>
              <a:t>Historical dataset; application-level requests only. Transport/IP overhead and ACK traffic not counted.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57200"/>
            <a:ext cx="11384280" cy="6172200"/>
          </a:xfrm>
          <a:prstGeom prst="roundRect">
            <a:avLst/>
          </a:prstGeom>
          <a:solidFill>
            <a:srgbClr val="121213"/>
          </a:solidFill>
          <a:ln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2335" y="448056"/>
            <a:ext cx="11384280" cy="6172200"/>
          </a:xfrm>
          <a:prstGeom prst="round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356616"/>
            <a:ext cx="11384280" cy="6172200"/>
          </a:xfrm>
          <a:prstGeom prst="round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8" y="804672"/>
            <a:ext cx="10744200" cy="71323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713232"/>
            <a:ext cx="10744200" cy="713232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832104"/>
            <a:ext cx="10104120" cy="4389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21213"/>
                </a:solidFill>
                <a:latin typeface="Century Gothic"/>
              </a:rPr>
              <a:t>Interpretation and Limitations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" y="1673352"/>
            <a:ext cx="10387584" cy="3200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42416" y="2084832"/>
            <a:ext cx="4937760" cy="375818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60120" y="1993392"/>
            <a:ext cx="4937760" cy="3758184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2084832"/>
            <a:ext cx="4919472" cy="375818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81344" y="1993392"/>
            <a:ext cx="4919472" cy="3758184"/>
          </a:xfrm>
          <a:prstGeom prst="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34440" y="2322576"/>
            <a:ext cx="4398264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21213"/>
                </a:solidFill>
                <a:latin typeface="Century Gothic"/>
              </a:rPr>
              <a:t>WHAT THE RESULTS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71800"/>
            <a:ext cx="4343400" cy="241401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LLSP uses a smaller application request format.</a:t>
            </a:r>
          </a:p>
          <a:p>
            <a:pPr>
              <a:spcAft>
                <a:spcPts val="900"/>
              </a:spcAft>
            </a:pPr>
            <a:endParaRPr sz="1400" b="0">
              <a:solidFill>
                <a:srgbClr val="121213"/>
              </a:solidFill>
              <a:latin typeface="Century Gothic"/>
            </a:endParaRP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Retransmission increases delivery under sender-side DATA omission.</a:t>
            </a:r>
          </a:p>
          <a:p>
            <a:pPr>
              <a:spcAft>
                <a:spcPts val="900"/>
              </a:spcAft>
            </a:pPr>
            <a:endParaRPr sz="1400" b="0">
              <a:solidFill>
                <a:srgbClr val="121213"/>
              </a:solidFill>
              <a:latin typeface="Century Gothic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Better delivery comes with higher confirmation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322576"/>
            <a:ext cx="4279392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600" b="1">
                <a:solidFill>
                  <a:srgbClr val="121213"/>
                </a:solidFill>
                <a:latin typeface="Century Gothic"/>
              </a:rPr>
              <a:t>WHAT THEY DO NOT ESTABLISH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971800"/>
            <a:ext cx="4297680" cy="245059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TCP was not given equivalent network loss.</a:t>
            </a:r>
          </a:p>
          <a:p>
            <a:pPr>
              <a:spcAft>
                <a:spcPts val="900"/>
              </a:spcAft>
            </a:pPr>
            <a:endParaRPr sz="1400" b="0">
              <a:solidFill>
                <a:srgbClr val="121213"/>
              </a:solidFill>
              <a:latin typeface="Century Gothic"/>
            </a:endParaRP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Localhost results do not establish real wireless or hardware performance.</a:t>
            </a:r>
          </a:p>
          <a:p>
            <a:pPr>
              <a:spcAft>
                <a:spcPts val="900"/>
              </a:spcAft>
            </a:pPr>
            <a:endParaRPr sz="1400" b="0">
              <a:solidFill>
                <a:srgbClr val="121213"/>
              </a:solidFill>
              <a:latin typeface="Century Gothic"/>
            </a:endParaRPr>
          </a:p>
          <a:p>
            <a:pPr>
              <a:spcAft>
                <a:spcPts val="0"/>
              </a:spcAft>
            </a:pPr>
            <a:r>
              <a:rPr sz="1400" b="0">
                <a:solidFill>
                  <a:srgbClr val="121213"/>
                </a:solidFill>
                <a:latin typeface="Century Gothic"/>
              </a:rPr>
              <a:t>• Deduplication is session-limited; fresh UDP server between independent sessions.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9768" y="457200"/>
            <a:ext cx="11384280" cy="6172200"/>
          </a:xfrm>
          <a:prstGeom prst="roundRect">
            <a:avLst/>
          </a:prstGeom>
          <a:solidFill>
            <a:srgbClr val="121213"/>
          </a:solidFill>
          <a:ln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02335" y="448056"/>
            <a:ext cx="11384280" cy="6172200"/>
          </a:xfrm>
          <a:prstGeom prst="round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356616"/>
            <a:ext cx="11384280" cy="6172200"/>
          </a:xfrm>
          <a:prstGeom prst="round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95528" y="804672"/>
            <a:ext cx="10744200" cy="713232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" y="713232"/>
            <a:ext cx="10744200" cy="713232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832104"/>
            <a:ext cx="10104120" cy="438912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121213"/>
                </a:solidFill>
                <a:latin typeface="Century Gothic"/>
              </a:rPr>
              <a:t>Conclusion and Next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" y="1673352"/>
            <a:ext cx="10387584" cy="3200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96696" y="2093976"/>
            <a:ext cx="5989320" cy="375818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2002536"/>
            <a:ext cx="5989320" cy="3758184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42048" y="2093976"/>
            <a:ext cx="3968496" cy="3758184"/>
          </a:xfrm>
          <a:prstGeom prst="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59752" y="2002536"/>
            <a:ext cx="3968496" cy="3758184"/>
          </a:xfrm>
          <a:prstGeom prst="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97864" y="2313432"/>
            <a:ext cx="539496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21213"/>
                </a:solidFill>
                <a:latin typeface="Century Gothic"/>
              </a:rPr>
              <a:t>CONCLUSION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6152" y="3008376"/>
            <a:ext cx="5340096" cy="2414016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900"/>
              </a:spcAft>
            </a:pPr>
            <a:r>
              <a:rPr sz="1500" b="0">
                <a:solidFill>
                  <a:srgbClr val="121213"/>
                </a:solidFill>
                <a:latin typeface="Century Gothic"/>
              </a:rPr>
              <a:t>LLSP demonstrates compact sensor-oriented messaging with CRC and optional ACK-based reliability.</a:t>
            </a:r>
          </a:p>
          <a:p>
            <a:pPr>
              <a:spcAft>
                <a:spcPts val="900"/>
              </a:spcAft>
            </a:pPr>
            <a:endParaRPr sz="1500" b="0">
              <a:solidFill>
                <a:srgbClr val="121213"/>
              </a:solidFill>
              <a:latin typeface="Century Gothic"/>
            </a:endParaRPr>
          </a:p>
          <a:p>
            <a:pPr>
              <a:spcAft>
                <a:spcPts val="0"/>
              </a:spcAft>
            </a:pPr>
            <a:r>
              <a:rPr sz="1500" b="0">
                <a:solidFill>
                  <a:srgbClr val="121213"/>
                </a:solidFill>
                <a:latin typeface="Century Gothic"/>
              </a:rPr>
              <a:t>Measured trials expose a clear delivery–latency trade-off under controlled DATA omission.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7" y="2313432"/>
            <a:ext cx="3383280" cy="457200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121213"/>
                </a:solidFill>
                <a:latin typeface="Century Gothic"/>
              </a:rP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34072" y="2980944"/>
            <a:ext cx="3346704" cy="2395728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90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• Session-aware deduplication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• Matched impairment for TCP / LLSP</a:t>
            </a:r>
          </a:p>
          <a:p>
            <a:pPr>
              <a:spcAft>
                <a:spcPts val="90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• Separate-host and physical sensor testing</a:t>
            </a: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121213"/>
                </a:solidFill>
                <a:latin typeface="Century Gothic"/>
              </a:rPr>
              <a:t>• More complete latency distributions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" y="6099048"/>
            <a:ext cx="10149840" cy="283464"/>
          </a:xfrm>
          <a:prstGeom prst="rect">
            <a:avLst/>
          </a:prstGeom>
          <a:noFill/>
        </p:spPr>
        <p:txBody>
          <a:bodyPr wrap="square" lIns="18288" tIns="18288" rIns="18288" bIns="0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121213"/>
                </a:solidFill>
                <a:latin typeface="Century Gothic"/>
              </a:rPr>
              <a:t>Sources: PacketLab README and docs/PROTOCOL.md  |  RFC 768 (UDP)  |  RFC 9293 (TCP)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4E8E4-1852-65B7-E357-003275E0A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072E9B-B757-EF9D-5B86-9870A88AE04A}"/>
              </a:ext>
            </a:extLst>
          </p:cNvPr>
          <p:cNvSpPr/>
          <p:nvPr/>
        </p:nvSpPr>
        <p:spPr>
          <a:xfrm>
            <a:off x="429768" y="758952"/>
            <a:ext cx="11384280" cy="5870448"/>
          </a:xfrm>
          <a:prstGeom prst="roundRect">
            <a:avLst/>
          </a:prstGeom>
          <a:solidFill>
            <a:srgbClr val="121213"/>
          </a:solidFill>
          <a:ln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4A33484-C0A7-AB09-2F0D-93B7C0102E77}"/>
              </a:ext>
            </a:extLst>
          </p:cNvPr>
          <p:cNvSpPr/>
          <p:nvPr/>
        </p:nvSpPr>
        <p:spPr>
          <a:xfrm>
            <a:off x="402335" y="1088136"/>
            <a:ext cx="11384280" cy="5532120"/>
          </a:xfrm>
          <a:prstGeom prst="roundRect">
            <a:avLst/>
          </a:prstGeom>
          <a:solidFill>
            <a:srgbClr val="121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4AC17A0-DD2B-8176-DE95-2AE3C2BB0BFE}"/>
              </a:ext>
            </a:extLst>
          </p:cNvPr>
          <p:cNvSpPr/>
          <p:nvPr/>
        </p:nvSpPr>
        <p:spPr>
          <a:xfrm>
            <a:off x="320040" y="658368"/>
            <a:ext cx="11384280" cy="5870448"/>
          </a:xfrm>
          <a:prstGeom prst="roundRect">
            <a:avLst/>
          </a:prstGeom>
          <a:solidFill>
            <a:srgbClr val="FFFFFF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F369CB-1DF4-5355-A47C-97DE3EE9449F}"/>
              </a:ext>
            </a:extLst>
          </p:cNvPr>
          <p:cNvSpPr/>
          <p:nvPr/>
        </p:nvSpPr>
        <p:spPr>
          <a:xfrm>
            <a:off x="960120" y="2628900"/>
            <a:ext cx="10323576" cy="1929384"/>
          </a:xfrm>
          <a:prstGeom prst="rect">
            <a:avLst/>
          </a:prstGeom>
          <a:solidFill>
            <a:srgbClr val="D3E6D4"/>
          </a:solidFill>
          <a:ln w="34290">
            <a:solidFill>
              <a:srgbClr val="1212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>
                <a:solidFill>
                  <a:schemeClr val="tx1"/>
                </a:solidFill>
                <a:latin typeface="Century Gothic" panose="020B0502020202020204" pitchFamily="34" charset="0"/>
              </a:rPr>
              <a:t>THANK YOU</a:t>
            </a:r>
            <a:endParaRPr sz="30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9176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836</Words>
  <Application>Microsoft Office PowerPoint</Application>
  <PresentationFormat>Widescreen</PresentationFormat>
  <Paragraphs>134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SARADA</dc:creator>
  <cp:keywords/>
  <dc:description>generated using python-pptx</dc:description>
  <cp:lastModifiedBy>Sarada A</cp:lastModifiedBy>
  <cp:revision>4</cp:revision>
  <dcterms:created xsi:type="dcterms:W3CDTF">2013-01-27T09:14:16Z</dcterms:created>
  <dcterms:modified xsi:type="dcterms:W3CDTF">2026-10-31T12:20:42Z</dcterms:modified>
  <cp:category/>
</cp:coreProperties>
</file>